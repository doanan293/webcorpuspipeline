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4.xml" ContentType="application/vnd.openxmlformats-officedocument.presentationml.slide+xml"/>
  <Override PartName="/ppt/slides/slide25.xml" ContentType="application/vnd.openxmlformats-officedocument.presentationml.slide+xml"/>
  <Override PartName="/ppt/notesSlides/notesSlide10.xml" ContentType="application/vnd.openxmlformats-officedocument.presentationml.notesSlide+xml"/>
  <Override PartName="/ppt/slides/slide26.xml" ContentType="application/vnd.openxmlformats-officedocument.presentationml.slide+xml"/>
  <Override PartName="/ppt/slides/slide28.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79" r:id="rId3"/>
  </p:sldMasterIdLst>
  <p:notesMasterIdLst>
    <p:notesMasterId r:id="rId5"/>
  </p:notesMasterIdLst>
  <p:sldIdLst>
    <p:sldId id="256" r:id="rId4"/>
    <p:sldId id="258" r:id="rId6"/>
    <p:sldId id="259" r:id="rId7"/>
    <p:sldId id="264" r:id="rId8"/>
    <p:sldId id="307" r:id="rId10"/>
    <p:sldId id="260" r:id="rId11"/>
    <p:sldId id="310" r:id="rId12"/>
    <p:sldId id="311" r:id="rId13"/>
    <p:sldId id="322" r:id="rId34"/>
    <p:sldId id="312" r:id="rId14"/>
    <p:sldId id="267" r:id="rId15"/>
    <p:sldId id="323" r:id="rId35"/>
    <p:sldId id="318" r:id="rId16"/>
    <p:sldId id="325" r:id="rId37"/>
    <p:sldId id="319" r:id="rId17"/>
    <p:sldId id="313" r:id="rId18"/>
    <p:sldId id="308" r:id="rId19"/>
    <p:sldId id="320" r:id="rId20"/>
    <p:sldId id="314" r:id="rId21"/>
    <p:sldId id="315" r:id="rId22"/>
    <p:sldId id="316" r:id="rId23"/>
    <p:sldId id="321" r:id="rId33"/>
    <p:sldId id="309" r:id="rId24"/>
    <p:sldId id="269" r:id="rId25"/>
    <p:sldId id="317" r:id="rId26"/>
    <p:sldId id="285" r:id="rId27"/>
  </p:sldIdLst>
  <p:sldSz cx="9144000" cy="5143500"/>
  <p:notesSz cx="6858000" cy="9144000"/>
  <p:embeddedFontLst>
    <p:embeddedFont>
      <p:font typeface="IBM Plex Mono" panose="020B0509050203000203"/>
      <p:regular r:id="rId31"/>
    </p:embeddedFont>
    <p:embeddedFont>
      <p:font typeface="Source Code Pro" panose="020B0309030403020204"/>
      <p:regular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Master" Target="slideMasters/slideMaster2.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  <Relationship Id="rId33" Type="http://schemas.openxmlformats.org/officeDocument/2006/relationships/slide" Target="slides/slide24.xml"/>
  <Relationship Id="rId34" Type="http://schemas.openxmlformats.org/officeDocument/2006/relationships/slide" Target="slides/slide25.xml"/>
  <Relationship Id="rId35" Type="http://schemas.openxmlformats.org/officeDocument/2006/relationships/slide" Target="slides/slide26.xml"/>
  
  <Relationship Id="rId37" Type="http://schemas.openxmlformats.org/officeDocument/2006/relationships/slide" Target="slides/slide2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Chào thầy và các bạn. Nhóm BAT trình bày hệ thống thu thập, bóc tách dữ liệu từ các website của trường và tìm kiếm trên kho dữ liệu đó.</a:t>
            </a:r>
            <a:endParaRPr lang="vi-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4" name="Google Shape;1464;g24e5c2c9e45_0_1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1" name="Google Shape;1481;g24e6b4d5c31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0" name="Google Shape;1730;g24ed99bf1a4_0_48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Dữ liệu được chia thành bốn loại; mỗi loại lưu vào một collection MongoDB: html, other, picture, graph.</a:t>
            </a:r>
            <a:endParaRPr lang="vi-V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Hệ thống viết bằng Python, mỗi dịch vụ chạy trong một container Docker. Downloader dùng Playwright mở trang cần JavaScript; Reader đọc PDF, Office và gửi PDF ảnh quét sang LlamaParse; dữ liệu lưu trong MongoDB.</a:t>
            </a:r>
            <a:endParaRPr lang="vi-V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37" name="Shape 1837"/>
        <p:cNvGrpSpPr/>
        <p:nvPr/>
      </p:nvGrpSpPr>
      <p:grpSpPr>
        <a:xfrm>
          <a:off x="0" y="0"/>
          <a:ext cx="0" cy="0"/>
          <a:chOff x="0" y="0"/>
          <a:chExt cx="0" cy="0"/>
        </a:xfrm>
      </p:grpSpPr>
      <p:sp>
        <p:nvSpPr>
          <p:cNvPr id="1838" name="Google Shape;1838;g24ed99bf1a4_0_97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9" name="Google Shape;1839;g24ed99bf1a4_0_97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Văn bản mô tả liên kết lấy nguyên câu chứa liên kết.</a:t>
            </a:r>
            <a:endParaRPr lang="vi-V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24ed99bf1a4_0_139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Tiêu đề có ở 99,1% trang, văn bản giới thiệu 87,6%. Ảnh không tải được chủ yếu do dlib.hust.edu.vn yêu cầu đăng nhập.</a:t>
            </a:r>
            <a:endParaRPr lang="vi-V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9" name="Google Shape;2409;g24ef22aa1ac_0_17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Mediator phân loại mỗi URL theo đường dẫn, không cần tải nội dung, để đặt lịch tải lại. Đuôi tệp được xét trước nên /tin-tuc.pdf là tài liệu. Trang 2 trở đi của danh sách tính là trang thường. Hàng đợi của đợt nộp bài có 892 URL trang chủ và trang mục, 153.822 trang thường, 6.675 tài liệu. Luật theo đường dẫn có thể nhầm, ví dụ download.php?id=1 là trang thường; hậu quả chỉ là lịch tải lại chưa tối ưu, nội dung vẫn được tải và Downloader xác định loại thật khi tải về.</a:t>
            </a:r>
            <a:endParaRPr lang="vi-VN"/>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HTML lộn xộn nên regex dễ sai; lxml sửa lỗi cú pháp rồi dựng cây thẻ. Ngày đăng và tác giả chỉ lấy từ thẻ khai báo của trang, không đọc từ chữ hiển thị như Đăng ngày 12/10. Ảnh chỉ lấy trong vùng nội dung để bỏ logo, còn liên kết lấy cả trang kể cả menu. Câu chứa liên kết chỉ có khi liên kết nằm trong đoạn văn; liên kết đứng riêng như mục menu dùng chữ của chính nó.</a:t>
            </a:r>
            <a:endParaRPr lang="vi-V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Ngõ cụt chặn kiểu website bỏ qua tham số page: mọi trang page=N đều giống nhau và lại trỏ sang trang kế tiếp. Hệ thống không đặt giới hạn độ sâu hay số trang, nên phạm vi thu thập phụ thuộc vào các lớp chặn này; trang page=2 vẫn được đi tiếp nếu nội dung khác trang đầu. Dạng chuẩn của URL: tên host viết thường, bỏ phần sau dấu #, bỏ tham số theo dõi, rút gọn đường dẫn. Mã băm SHA-256 so nguyên văn bản để tìm các URL khác nhau cùng một nội dung. Dấu vân tay bỏ số, tên tháng và dòng lượt xem rồi mới băm, dùng để so một URL với chính nó qua các lần tải; hạn chế là nếu chỉ đổi số hoặc tháng thì trang bị coi là không đổi.</a:t>
            </a:r>
            <a:endParaRPr lang="vi-VN"/>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2" name="Google Shape;12;p2"/>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srcRect l="16960" t="24719" r="7121" b="26177"/>
            <a:stretch>
              <a:fillRect/>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54" name="Google Shape;54;p2"/>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type="subTitle" idx="1"/>
          </p:nvPr>
        </p:nvSpPr>
        <p:spPr>
          <a:xfrm>
            <a:off x="1096850" y="3456250"/>
            <a:ext cx="4882500" cy="4758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type="title" idx="2" hasCustomPrompt="1"/>
          </p:nvPr>
        </p:nvSpPr>
        <p:spPr>
          <a:xfrm>
            <a:off x="720000" y="102572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type="body" idx="1"/>
          </p:nvPr>
        </p:nvSpPr>
        <p:spPr>
          <a:xfrm>
            <a:off x="720000" y="1139551"/>
            <a:ext cx="77040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srcRect l="16960" t="24719" r="7121" b="26177"/>
            <a:stretch>
              <a:fillRect/>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8" name="Google Shape;148;p4"/>
            <p:cNvSpPr/>
            <p:nvPr/>
          </p:nvSpPr>
          <p:spPr>
            <a:xfrm rot="5400000">
              <a:off x="8098189" y="-87718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type="subTitle" idx="1"/>
          </p:nvPr>
        </p:nvSpPr>
        <p:spPr>
          <a:xfrm>
            <a:off x="4999903"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7" name="Google Shape;177;p5"/>
          <p:cNvSpPr txBox="1"/>
          <p:nvPr>
            <p:ph type="subTitle" idx="2"/>
          </p:nvPr>
        </p:nvSpPr>
        <p:spPr>
          <a:xfrm>
            <a:off x="1803800"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8" name="Google Shape;178;p5"/>
          <p:cNvSpPr txBox="1"/>
          <p:nvPr>
            <p:ph type="subTitle" idx="3"/>
          </p:nvPr>
        </p:nvSpPr>
        <p:spPr>
          <a:xfrm>
            <a:off x="4999908"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79" name="Google Shape;179;p5"/>
          <p:cNvSpPr txBox="1"/>
          <p:nvPr>
            <p:ph type="subTitle" idx="4"/>
          </p:nvPr>
        </p:nvSpPr>
        <p:spPr>
          <a:xfrm>
            <a:off x="1803800"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srcRect l="16960" t="24719" r="7121" b="26177"/>
            <a:stretch>
              <a:fillRect/>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254" name="Google Shape;254;p6"/>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5" name="Google Shape;265;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69" name="Google Shape;269;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2" name="Google Shape;272;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1" name="Google Shape;28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2" name="Google Shape;28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84" name="Google Shape;28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0" name="Google Shape;29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3" name="Google Shape;29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94" name="Google Shape;29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8" name="Google Shape;29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4" name="Google Shape;30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5" name="Google Shape;30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6" name="Google Shape;30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7" name="Google Shape;30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08" name="Google Shape;30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1" name="Google Shape;32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23" name="Google Shape;32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1" name="Google Shape;33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2" name="Google Shape;33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33" name="Google Shape;33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36" name="Google Shape;336;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7" name="Google Shape;337;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type="subTitle" idx="1"/>
          </p:nvPr>
        </p:nvSpPr>
        <p:spPr>
          <a:xfrm>
            <a:off x="713225" y="1160775"/>
            <a:ext cx="7710900" cy="3455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rot="-2700000">
              <a:off x="6782013" y="-26000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49" name="Google Shape;349;p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50" name="Google Shape;350;p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srcRect l="16960" t="24719" r="7121" b="26177"/>
            <a:stretch>
              <a:fillRect/>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4" name="Google Shape;354;p7"/>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3" name="Google Shape;36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p:txBody>
      </p:sp>
      <p:sp>
        <p:nvSpPr>
          <p:cNvPr id="378" name="Google Shape;378;p9"/>
          <p:cNvSpPr/>
          <p:nvPr>
            <p:ph type="pic" idx="2"/>
          </p:nvPr>
        </p:nvSpPr>
        <p:spPr>
          <a:xfrm>
            <a:off x="4135800" y="539500"/>
            <a:ext cx="4295100" cy="40692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srcRect l="16960" t="24719" r="7121" b="26177"/>
            <a:stretch>
              <a:fillRect/>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09" name="Google Shape;409;p9"/>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24" name="Shape 424"/>
        <p:cNvGrpSpPr/>
        <p:nvPr/>
      </p:nvGrpSpPr>
      <p:grpSpPr>
        <a:xfrm>
          <a:off x="0" y="0"/>
          <a:ext cx="0" cy="0"/>
          <a:chOff x="0" y="0"/>
          <a:chExt cx="0" cy="0"/>
        </a:xfrm>
      </p:grpSpPr>
      <p:sp>
        <p:nvSpPr>
          <p:cNvPr id="425" name="Google Shape;425;p10"/>
          <p:cNvSpPr/>
          <p:nvPr>
            <p:ph type="pic" idx="2"/>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3000"/>
              <a:buNone/>
              <a:defRPr sz="25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27" name="Shape 427"/>
        <p:cNvGrpSpPr/>
        <p:nvPr/>
      </p:nvGrpSpPr>
      <p:grpSpPr>
        <a:xfrm>
          <a:off x="0" y="0"/>
          <a:ext cx="0" cy="0"/>
          <a:chOff x="0" y="0"/>
          <a:chExt cx="0" cy="0"/>
        </a:xfrm>
      </p:grpSpPr>
      <p:sp>
        <p:nvSpPr>
          <p:cNvPr id="428" name="Google Shape;428;p11"/>
          <p:cNvSpPr txBox="1"/>
          <p:nvPr>
            <p:ph type="title" hasCustomPrompt="1"/>
          </p:nvPr>
        </p:nvSpPr>
        <p:spPr>
          <a:xfrm>
            <a:off x="713225" y="1766475"/>
            <a:ext cx="6576000" cy="1036200"/>
          </a:xfrm>
          <a:prstGeom prst="rect">
            <a:avLst/>
          </a:prstGeom>
        </p:spPr>
        <p:txBody>
          <a:bodyPr spcFirstLastPara="1" wrap="square" lIns="91425" tIns="91425" rIns="91425" bIns="91425" anchor="b" anchorCtr="0">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89" name="Google Shape;489;p11"/>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bg>
      <p:bgPr>
        <a:noFill/>
        <a:effectLst/>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496" name="Google Shape;496;p13"/>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7" name="Google Shape;497;p13"/>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8" name="Google Shape;498;p13"/>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9" name="Google Shape;499;p13"/>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00" name="Google Shape;500;p13"/>
          <p:cNvSpPr txBox="1"/>
          <p:nvPr>
            <p:ph type="title" idx="5" hasCustomPrompt="1"/>
          </p:nvPr>
        </p:nvSpPr>
        <p:spPr>
          <a:xfrm>
            <a:off x="720003"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1" name="Google Shape;501;p13"/>
          <p:cNvSpPr txBox="1"/>
          <p:nvPr>
            <p:ph type="title" idx="6" hasCustomPrompt="1"/>
          </p:nvPr>
        </p:nvSpPr>
        <p:spPr>
          <a:xfrm>
            <a:off x="720003"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2" name="Google Shape;502;p13"/>
          <p:cNvSpPr txBox="1"/>
          <p:nvPr>
            <p:ph type="title" idx="7" hasCustomPrompt="1"/>
          </p:nvPr>
        </p:nvSpPr>
        <p:spPr>
          <a:xfrm>
            <a:off x="4366698"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3" name="Google Shape;503;p13"/>
          <p:cNvSpPr txBox="1"/>
          <p:nvPr>
            <p:ph type="title" idx="8" hasCustomPrompt="1"/>
          </p:nvPr>
        </p:nvSpPr>
        <p:spPr>
          <a:xfrm>
            <a:off x="4366698"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4" name="Google Shape;504;p13"/>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5" name="Google Shape;505;p13"/>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6" name="Google Shape;506;p13"/>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507" name="Google Shape;507;p13"/>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2" name="Google Shape;512;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7" name="Google Shape;527;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2" name="Google Shape;53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rot="-2700000" flipH="1">
              <a:off x="7289785" y="-1246897"/>
              <a:ext cx="2552124" cy="3347490"/>
              <a:chOff x="2976325" y="908175"/>
              <a:chExt cx="4028179" cy="5283555"/>
            </a:xfrm>
          </p:grpSpPr>
          <p:sp>
            <p:nvSpPr>
              <p:cNvPr id="535" name="Google Shape;535;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7" name="Google Shape;537;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38" name="Google Shape;538;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542" name="Google Shape;542;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3" name="Google Shape;543;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p:txBody>
      </p:sp>
      <p:sp>
        <p:nvSpPr>
          <p:cNvPr id="546" name="Google Shape;546;p14"/>
          <p:cNvSpPr txBox="1"/>
          <p:nvPr>
            <p:ph type="subTitle" idx="1"/>
          </p:nvPr>
        </p:nvSpPr>
        <p:spPr>
          <a:xfrm>
            <a:off x="713225" y="1511313"/>
            <a:ext cx="6691200" cy="1478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8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610" name="Google Shape;610;p15"/>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srcRect l="16960" t="24719" r="7121" b="26177"/>
            <a:stretch>
              <a:fillRect/>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8" name="Google Shape;728;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
        <p:nvSpPr>
          <p:cNvPr id="729" name="Google Shape;729;p18"/>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srcRect l="16960" t="24719" r="7121" b="26177"/>
            <a:stretch>
              <a:fillRect/>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7" name="Google Shape;757;p18"/>
              <p:cNvSpPr/>
              <p:nvPr/>
            </p:nvSpPr>
            <p:spPr>
              <a:xfrm flipH="1">
                <a:off x="6947845" y="276153"/>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761" name="Google Shape;761;p19"/>
          <p:cNvSpPr txBox="1"/>
          <p:nvPr>
            <p:ph type="subTitle" idx="1"/>
          </p:nvPr>
        </p:nvSpPr>
        <p:spPr>
          <a:xfrm>
            <a:off x="4881006"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762" name="Google Shape;762;p19"/>
          <p:cNvSpPr txBox="1"/>
          <p:nvPr>
            <p:ph type="subTitle" idx="2"/>
          </p:nvPr>
        </p:nvSpPr>
        <p:spPr>
          <a:xfrm>
            <a:off x="720000"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5" name="Google Shape;765;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776" name="Google Shape;776;p19"/>
            <p:cNvPicPr preferRelativeResize="0"/>
            <p:nvPr/>
          </p:nvPicPr>
          <p:blipFill rotWithShape="1">
            <a:blip r:embed="rId2"/>
            <a:srcRect l="16960" t="24719" r="7121" b="26177"/>
            <a:stretch>
              <a:fillRect/>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type="subTitle" idx="1"/>
          </p:nvPr>
        </p:nvSpPr>
        <p:spPr>
          <a:xfrm>
            <a:off x="720000" y="2326750"/>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srcRect l="16960" t="24719" r="7121" b="26177"/>
            <a:stretch>
              <a:fillRect/>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type="body" idx="1"/>
          </p:nvPr>
        </p:nvSpPr>
        <p:spPr>
          <a:xfrm>
            <a:off x="720000" y="1139550"/>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858" name="Google Shape;858;p21"/>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2" name="Google Shape;882;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5" name="Google Shape;89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96" name="Google Shape;89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06" name="Google Shape;90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2" name="Google Shape;91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3" name="Google Shape;91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4" name="Google Shape;91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5" name="Google Shape;91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16" name="Google Shape;91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9" name="Google Shape;91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23" name="Google Shape;923;p22"/>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type="body" idx="1"/>
          </p:nvPr>
        </p:nvSpPr>
        <p:spPr>
          <a:xfrm>
            <a:off x="720000" y="1139550"/>
            <a:ext cx="4290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type="body" idx="2"/>
          </p:nvPr>
        </p:nvSpPr>
        <p:spPr>
          <a:xfrm>
            <a:off x="5249025" y="1139550"/>
            <a:ext cx="3174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2" name="Google Shape;932;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3" name="Google Shape;943;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7" name="Google Shape;947;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0" name="Google Shape;950;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srcRect l="16960" t="24719" r="7121" b="26177"/>
            <a:stretch>
              <a:fillRect/>
            </a:stretch>
          </p:blipFill>
          <p:spPr>
            <a:xfrm rot="10800000" flipH="1">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8" name="Google Shape;95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62" name="Google Shape;96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72" name="Google Shape;97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type="subTitle" idx="1"/>
          </p:nvPr>
        </p:nvSpPr>
        <p:spPr>
          <a:xfrm>
            <a:off x="713225" y="2041525"/>
            <a:ext cx="55785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6" name="Google Shape;976;p23"/>
          <p:cNvSpPr txBox="1"/>
          <p:nvPr>
            <p:ph type="subTitle" idx="2"/>
          </p:nvPr>
        </p:nvSpPr>
        <p:spPr>
          <a:xfrm>
            <a:off x="713225" y="3366650"/>
            <a:ext cx="55785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7" name="Google Shape;977;p23"/>
          <p:cNvSpPr txBox="1"/>
          <p:nvPr>
            <p:ph type="subTitle" idx="3"/>
          </p:nvPr>
        </p:nvSpPr>
        <p:spPr>
          <a:xfrm>
            <a:off x="713225" y="167940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978" name="Google Shape;978;p23"/>
          <p:cNvSpPr txBox="1"/>
          <p:nvPr>
            <p:ph type="subTitle" idx="4"/>
          </p:nvPr>
        </p:nvSpPr>
        <p:spPr>
          <a:xfrm>
            <a:off x="713225" y="304055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979" name="Google Shape;979;p23"/>
          <p:cNvGrpSpPr/>
          <p:nvPr/>
        </p:nvGrpSpPr>
        <p:grpSpPr>
          <a:xfrm rot="-5400000" flipH="1">
            <a:off x="6239121" y="1032770"/>
            <a:ext cx="5022035" cy="4764449"/>
            <a:chOff x="4571996" y="2268220"/>
            <a:chExt cx="5022035" cy="4764449"/>
          </a:xfrm>
        </p:grpSpPr>
        <p:pic>
          <p:nvPicPr>
            <p:cNvPr id="980" name="Google Shape;980;p23"/>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025" name="Google Shape;1025;p23"/>
          <p:cNvPicPr preferRelativeResize="0"/>
          <p:nvPr/>
        </p:nvPicPr>
        <p:blipFill rotWithShape="1">
          <a:blip r:embed="rId2"/>
          <a:srcRect l="16960" t="24719" r="7121" b="26177"/>
          <a:stretch>
            <a:fillRect/>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053" name="Google Shape;1053;p24"/>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56" name="Google Shape;1056;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7" name="Google Shape;1057;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58" name="Google Shape;1058;p24"/>
          <p:cNvSpPr txBox="1"/>
          <p:nvPr>
            <p:ph type="subTitle" idx="1"/>
          </p:nvPr>
        </p:nvSpPr>
        <p:spPr>
          <a:xfrm>
            <a:off x="720000"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59" name="Google Shape;1059;p24"/>
          <p:cNvSpPr txBox="1"/>
          <p:nvPr>
            <p:ph type="subTitle" idx="2"/>
          </p:nvPr>
        </p:nvSpPr>
        <p:spPr>
          <a:xfrm>
            <a:off x="3584484"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0" name="Google Shape;1060;p24"/>
          <p:cNvSpPr txBox="1"/>
          <p:nvPr>
            <p:ph type="subTitle" idx="3"/>
          </p:nvPr>
        </p:nvSpPr>
        <p:spPr>
          <a:xfrm>
            <a:off x="6448975"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type="subTitle" idx="4"/>
          </p:nvPr>
        </p:nvSpPr>
        <p:spPr>
          <a:xfrm>
            <a:off x="720000"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3" name="Google Shape;1063;p24"/>
          <p:cNvSpPr txBox="1"/>
          <p:nvPr>
            <p:ph type="subTitle" idx="5"/>
          </p:nvPr>
        </p:nvSpPr>
        <p:spPr>
          <a:xfrm>
            <a:off x="3584483"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4" name="Google Shape;1064;p24"/>
          <p:cNvSpPr txBox="1"/>
          <p:nvPr>
            <p:ph type="subTitle" idx="6"/>
          </p:nvPr>
        </p:nvSpPr>
        <p:spPr>
          <a:xfrm>
            <a:off x="6448972"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srcRect l="16960" t="24719" r="7121" b="26177"/>
            <a:stretch>
              <a:fillRect/>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type="subTitle" idx="1"/>
          </p:nvPr>
        </p:nvSpPr>
        <p:spPr>
          <a:xfrm>
            <a:off x="720000"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3" name="Google Shape;1113;p25"/>
          <p:cNvSpPr txBox="1"/>
          <p:nvPr>
            <p:ph type="subTitle" idx="2"/>
          </p:nvPr>
        </p:nvSpPr>
        <p:spPr>
          <a:xfrm>
            <a:off x="3584484"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4" name="Google Shape;1114;p25"/>
          <p:cNvSpPr txBox="1"/>
          <p:nvPr>
            <p:ph type="subTitle" idx="3"/>
          </p:nvPr>
        </p:nvSpPr>
        <p:spPr>
          <a:xfrm>
            <a:off x="6448975"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type="subTitle" idx="4"/>
          </p:nvPr>
        </p:nvSpPr>
        <p:spPr>
          <a:xfrm>
            <a:off x="720000"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7" name="Google Shape;1117;p25"/>
          <p:cNvSpPr txBox="1"/>
          <p:nvPr>
            <p:ph type="subTitle" idx="5"/>
          </p:nvPr>
        </p:nvSpPr>
        <p:spPr>
          <a:xfrm>
            <a:off x="3584483"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8" name="Google Shape;1118;p25"/>
          <p:cNvSpPr txBox="1"/>
          <p:nvPr>
            <p:ph type="subTitle" idx="6"/>
          </p:nvPr>
        </p:nvSpPr>
        <p:spPr>
          <a:xfrm>
            <a:off x="6448972"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9" name="Google Shape;1119;p25"/>
          <p:cNvSpPr/>
          <p:nvPr>
            <p:ph type="pic" idx="7"/>
          </p:nvPr>
        </p:nvSpPr>
        <p:spPr>
          <a:xfrm>
            <a:off x="720000" y="1236800"/>
            <a:ext cx="1981800" cy="1662300"/>
          </a:xfrm>
          <a:prstGeom prst="snip1Rect">
            <a:avLst>
              <a:gd name="adj" fmla="val 16667"/>
            </a:avLst>
          </a:prstGeom>
          <a:noFill/>
          <a:ln>
            <a:noFill/>
          </a:ln>
        </p:spPr>
      </p:sp>
      <p:sp>
        <p:nvSpPr>
          <p:cNvPr id="1120" name="Google Shape;1120;p25"/>
          <p:cNvSpPr/>
          <p:nvPr>
            <p:ph type="pic" idx="8"/>
          </p:nvPr>
        </p:nvSpPr>
        <p:spPr>
          <a:xfrm>
            <a:off x="3584475" y="1236800"/>
            <a:ext cx="1981800" cy="1662300"/>
          </a:xfrm>
          <a:prstGeom prst="snip1Rect">
            <a:avLst>
              <a:gd name="adj" fmla="val 16667"/>
            </a:avLst>
          </a:prstGeom>
          <a:noFill/>
          <a:ln>
            <a:noFill/>
          </a:ln>
        </p:spPr>
      </p:sp>
      <p:sp>
        <p:nvSpPr>
          <p:cNvPr id="1121" name="Google Shape;1121;p25"/>
          <p:cNvSpPr/>
          <p:nvPr>
            <p:ph type="pic" idx="9"/>
          </p:nvPr>
        </p:nvSpPr>
        <p:spPr>
          <a:xfrm>
            <a:off x="6448950" y="1236800"/>
            <a:ext cx="1981800" cy="1662300"/>
          </a:xfrm>
          <a:prstGeom prst="snip1Rect">
            <a:avLst>
              <a:gd name="adj" fmla="val 16667"/>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5" name="Google Shape;1125;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6" name="Google Shape;1126;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5" name="Google Shape;113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36" name="Google Shape;1136;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139" name="Google Shape;1139;p25"/>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3" name="Google Shape;1143;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4" name="Google Shape;1144;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5" name="Google Shape;1145;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6" name="Google Shape;1156;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9" name="Google Shape;1159;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162" name="Google Shape;1162;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63" name="Google Shape;1163;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7" name="Google Shape;1167;p26"/>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8" name="Google Shape;1168;p26"/>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9" name="Google Shape;1169;p26"/>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70" name="Google Shape;1170;p26"/>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1" name="Google Shape;1171;p26"/>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2" name="Google Shape;1172;p26"/>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3" name="Google Shape;1173;p26"/>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7" name="Google Shape;1187;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rot="-8100000" flipH="1">
                  <a:off x="6536116" y="3150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6"/>
                <p:cNvSpPr/>
                <p:nvPr/>
              </p:nvSpPr>
              <p:spPr>
                <a:xfrm rot="-8100000" flipH="1">
                  <a:off x="7076657" y="14993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6"/>
                <p:cNvSpPr/>
                <p:nvPr/>
              </p:nvSpPr>
              <p:spPr>
                <a:xfrm>
                  <a:off x="8301511" y="-3353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6"/>
                <p:cNvSpPr/>
                <p:nvPr/>
              </p:nvSpPr>
              <p:spPr>
                <a:xfrm>
                  <a:off x="8554000" y="270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207" name="Google Shape;1207;p26"/>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4" name="Google Shape;1214;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type="subTitle" idx="1"/>
          </p:nvPr>
        </p:nvSpPr>
        <p:spPr>
          <a:xfrm>
            <a:off x="720000"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8" name="Google Shape;1218;p27"/>
          <p:cNvSpPr txBox="1"/>
          <p:nvPr>
            <p:ph type="subTitle" idx="2"/>
          </p:nvPr>
        </p:nvSpPr>
        <p:spPr>
          <a:xfrm>
            <a:off x="3469872"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9" name="Google Shape;1219;p27"/>
          <p:cNvSpPr txBox="1"/>
          <p:nvPr>
            <p:ph type="subTitle" idx="3"/>
          </p:nvPr>
        </p:nvSpPr>
        <p:spPr>
          <a:xfrm>
            <a:off x="720000"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0" name="Google Shape;1220;p27"/>
          <p:cNvSpPr txBox="1"/>
          <p:nvPr>
            <p:ph type="subTitle" idx="4"/>
          </p:nvPr>
        </p:nvSpPr>
        <p:spPr>
          <a:xfrm>
            <a:off x="3469872"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1" name="Google Shape;1221;p27"/>
          <p:cNvSpPr txBox="1"/>
          <p:nvPr>
            <p:ph type="subTitle" idx="5"/>
          </p:nvPr>
        </p:nvSpPr>
        <p:spPr>
          <a:xfrm>
            <a:off x="6219751"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2" name="Google Shape;1222;p27"/>
          <p:cNvSpPr txBox="1"/>
          <p:nvPr>
            <p:ph type="subTitle" idx="6"/>
          </p:nvPr>
        </p:nvSpPr>
        <p:spPr>
          <a:xfrm>
            <a:off x="6219751"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3" name="Google Shape;1223;p27"/>
          <p:cNvSpPr txBox="1"/>
          <p:nvPr>
            <p:ph type="subTitle" idx="7"/>
          </p:nvPr>
        </p:nvSpPr>
        <p:spPr>
          <a:xfrm>
            <a:off x="720000"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4" name="Google Shape;1224;p27"/>
          <p:cNvSpPr txBox="1"/>
          <p:nvPr>
            <p:ph type="subTitle" idx="8"/>
          </p:nvPr>
        </p:nvSpPr>
        <p:spPr>
          <a:xfrm>
            <a:off x="3469873"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5" name="Google Shape;1225;p27"/>
          <p:cNvSpPr txBox="1"/>
          <p:nvPr>
            <p:ph type="subTitle" idx="9"/>
          </p:nvPr>
        </p:nvSpPr>
        <p:spPr>
          <a:xfrm>
            <a:off x="720000"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6" name="Google Shape;1226;p27"/>
          <p:cNvSpPr txBox="1"/>
          <p:nvPr>
            <p:ph type="subTitle" idx="13"/>
          </p:nvPr>
        </p:nvSpPr>
        <p:spPr>
          <a:xfrm>
            <a:off x="3469873"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7" name="Google Shape;1227;p27"/>
          <p:cNvSpPr txBox="1"/>
          <p:nvPr>
            <p:ph type="subTitle" idx="14"/>
          </p:nvPr>
        </p:nvSpPr>
        <p:spPr>
          <a:xfrm>
            <a:off x="6219752"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8" name="Google Shape;1228;p27"/>
          <p:cNvSpPr txBox="1"/>
          <p:nvPr>
            <p:ph type="subTitle" idx="15"/>
          </p:nvPr>
        </p:nvSpPr>
        <p:spPr>
          <a:xfrm>
            <a:off x="6219752"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srcRect l="16960" t="24719" r="7121" b="26177"/>
            <a:stretch>
              <a:fillRect/>
            </a:stretch>
          </p:blipFill>
          <p:spPr>
            <a:xfrm>
              <a:off x="7361325" y="-596625"/>
              <a:ext cx="2441950" cy="1863749"/>
            </a:xfrm>
            <a:prstGeom prst="rect">
              <a:avLst/>
            </a:prstGeom>
            <a:noFill/>
            <a:ln>
              <a:noFill/>
            </a:ln>
          </p:spPr>
        </p:pic>
        <p:grpSp>
          <p:nvGrpSpPr>
            <p:cNvPr id="1231" name="Google Shape;1231;p27"/>
            <p:cNvGrpSpPr/>
            <p:nvPr/>
          </p:nvGrpSpPr>
          <p:grpSpPr>
            <a:xfrm rot="-2700000" flipH="1">
              <a:off x="7289785" y="-1246897"/>
              <a:ext cx="2552124" cy="3347490"/>
              <a:chOff x="2976325" y="908175"/>
              <a:chExt cx="4028179" cy="5283555"/>
            </a:xfrm>
          </p:grpSpPr>
          <p:sp>
            <p:nvSpPr>
              <p:cNvPr id="1232" name="Google Shape;1232;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1243" name="Google Shape;1243;p27"/>
            <p:cNvPicPr preferRelativeResize="0"/>
            <p:nvPr/>
          </p:nvPicPr>
          <p:blipFill rotWithShape="1">
            <a:blip r:embed="rId2"/>
            <a:srcRect l="16960" t="24719" r="7121" b="26177"/>
            <a:stretch>
              <a:fillRect/>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9" name="Google Shape;1249;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0" name="Google Shape;1250;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7" name="Google Shape;125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8" name="Google Shape;125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63" name="Google Shape;1263;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64" name="Google Shape;1264;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type="title" hasCustomPrompt="1"/>
          </p:nvPr>
        </p:nvSpPr>
        <p:spPr>
          <a:xfrm>
            <a:off x="2358450" y="664988"/>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type="title" idx="2" hasCustomPrompt="1"/>
          </p:nvPr>
        </p:nvSpPr>
        <p:spPr>
          <a:xfrm>
            <a:off x="2358450" y="2027244"/>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type="title" idx="4" hasCustomPrompt="1"/>
          </p:nvPr>
        </p:nvSpPr>
        <p:spPr>
          <a:xfrm>
            <a:off x="2358450" y="3390475"/>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5" name="Google Shape;1275;p2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78" name="Google Shape;1278;p2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79" name="Google Shape;1279;p2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280" name="Shape 1280"/>
        <p:cNvGrpSpPr/>
        <p:nvPr/>
      </p:nvGrpSpPr>
      <p:grpSpPr>
        <a:xfrm>
          <a:off x="0" y="0"/>
          <a:ext cx="0" cy="0"/>
          <a:chOff x="0" y="0"/>
          <a:chExt cx="0" cy="0"/>
        </a:xfrm>
      </p:grpSpPr>
      <p:sp>
        <p:nvSpPr>
          <p:cNvPr id="1281" name="Google Shape;1281;p29"/>
          <p:cNvSpPr txBox="1"/>
          <p:nvPr>
            <p:ph type="subTitle" idx="1"/>
          </p:nvPr>
        </p:nvSpPr>
        <p:spPr>
          <a:xfrm>
            <a:off x="1157250" y="1609575"/>
            <a:ext cx="4448100" cy="1239300"/>
          </a:xfrm>
          <a:prstGeom prst="rect">
            <a:avLst/>
          </a:prstGeom>
        </p:spPr>
        <p:txBody>
          <a:bodyPr spcFirstLastPara="1" wrap="square" lIns="91425" tIns="91425" rIns="91425" bIns="91425" anchor="t" anchorCtr="0">
            <a:noAutofit/>
          </a:bodyPr>
          <a:lstStyle>
            <a:lvl1pPr lvl="0">
              <a:spcBef>
                <a:spcPts val="0"/>
              </a:spcBef>
              <a:spcAft>
                <a:spcPts val="0"/>
              </a:spcAft>
              <a:buSzPts val="25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9"/>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2" name="Google Shape;1292;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3" name="Google Shape;1293;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4" name="Google Shape;1294;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96" name="Google Shape;1296;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9" name="Google Shape;1299;p29"/>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9"/>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9"/>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9" name="Google Shape;130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0" name="Google Shape;131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11" name="Google Shape;131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7" name="Google Shape;131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8" name="Google Shape;131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21" name="Google Shape;132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srcRect l="16960" t="24719" r="7121" b="26177"/>
            <a:stretch>
              <a:fillRect/>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6" name="Google Shape;1326;p29"/>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7" name="Google Shape;1327;p29"/>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8" name="Google Shape;1328;p29"/>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3" name="Google Shape;1343;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4" name="Google Shape;1344;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9" name="Google Shape;1349;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3" name="Google Shape;1353;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356" name="Google Shape;1356;p30"/>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9" name="Google Shape;1369;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0" name="Google Shape;1370;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1" name="Google Shape;1411;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2" name="Google Shape;1412;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18" name="Google Shape;1418;p31"/>
              <p:cNvCxnSpPr/>
              <p:nvPr/>
            </p:nvCxnSpPr>
            <p:spPr>
              <a:xfrm>
                <a:off x="796100" y="3086750"/>
                <a:ext cx="4462800" cy="0"/>
              </a:xfrm>
              <a:prstGeom prst="straightConnector1">
                <a:avLst/>
              </a:prstGeom>
              <a:noFill/>
              <a:ln w="9525" cap="flat" cmpd="sng">
                <a:solidFill>
                  <a:schemeClr val="lt1"/>
                </a:solidFill>
                <a:prstDash val="solid"/>
                <a:round/>
                <a:headEnd type="none" w="med" len="med"/>
                <a:tailEnd type="none" w="med" len="med"/>
              </a:ln>
            </p:spPr>
          </p:cxnSp>
          <p:sp>
            <p:nvSpPr>
              <p:cNvPr id="1419" name="Google Shape;1419;p31"/>
              <p:cNvSpPr/>
              <p:nvPr/>
            </p:nvSpPr>
            <p:spPr>
              <a:xfrm>
                <a:off x="5251079" y="3049843"/>
                <a:ext cx="73800" cy="73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matchingName="Blank slide">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1" Type="http://schemas.openxmlformats.org/officeDocument/2006/relationships/theme" Target="../theme/theme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1pPr>
            <a:lvl2pPr lvl="1"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7" name="Google Shape;7;p1"/>
          <p:cNvSpPr txBox="1"/>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marL="914400" lvl="1"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marL="1371600" lvl="2"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marL="1828800" lvl="3"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marL="2286000" lvl="4"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marL="2743200" lvl="5"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marL="3200400" lvl="6"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marL="3657600" lvl="7"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marL="4114800" lvl="8"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marL="914400" lvl="1"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marL="1371600" lvl="2"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marL="1828800" lvl="3"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marL="2286000" lvl="4"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marL="2743200" lvl="5"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marL="3200400" lvl="6"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marL="3657600" lvl="7"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marL="4114800" lvl="8"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80" r:id="rId1"/>
    <p:sldLayoutId id="214748368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8.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7.xml"/><Relationship Id="rId1"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8.xml"/><Relationship Id="rId1" Type="http://schemas.openxmlformats.org/officeDocument/2006/relationships/image" Target="../media/image2.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90.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429" name="Shape 1429"/>
        <p:cNvGrpSpPr/>
        <p:nvPr/>
      </p:nvGrpSpPr>
      <p:grpSpPr>
        <a:xfrm>
          <a:off x="0" y="0"/>
          <a:ext cx="0" cy="0"/>
          <a:chOff x="0" y="0"/>
          <a:chExt cx="0" cy="0"/>
        </a:xfrm>
      </p:grpSpPr>
      <p:sp>
        <p:nvSpPr>
          <p:cNvPr id="1430" name="Google Shape;1430;p35"/>
          <p:cNvSpPr txBox="1"/>
          <p:nvPr>
            <p:ph type="subTitle" idx="1"/>
          </p:nvPr>
        </p:nvSpPr>
        <p:spPr>
          <a:xfrm>
            <a:off x="1096850" y="3310128"/>
            <a:ext cx="6035040" cy="137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1200"/>
              <a:t>IT4863 Tìm kiếm thông tin · Giảng viên: TS. Nguyễn Bá Ngọc</a:t>
            </a:r>
            <a:endParaRPr lang="vi-VN" sz="1200"/>
          </a:p>
          <a:p>
            <a:pPr marL="0" lvl="0" indent="0" algn="l" rtl="0">
              <a:spcBef>
                <a:spcPts val="0"/>
              </a:spcBef>
              <a:spcAft>
                <a:spcPts val="0"/>
              </a:spcAft>
              <a:buNone/>
            </a:pPr>
            <a:r>
              <a:rPr lang="vi-VN" sz="1200" b="1"/>
              <a:t>Nhóm BAT:</a:t>
            </a:r>
            <a:r>
              <a:rPr lang="vi-VN" sz="1200"/>
              <a:t> Doãn Văn An · Trần Ngọc Bảo · Phạm Sơn </a:t>
            </a:r>
            <a:r>
              <a:rPr lang="vi-VN" sz="1200"/>
              <a:t>Tùng</a:t>
            </a:r>
            <a:endParaRPr lang="vi-VN" sz="1200"/>
          </a:p>
        </p:txBody>
      </p:sp>
      <p:sp>
        <p:nvSpPr>
          <p:cNvPr id="1431" name="Google Shape;1431;p35"/>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sz="2600">
                <a:solidFill>
                  <a:schemeClr val="dk2"/>
                </a:solidFill>
              </a:rPr>
              <a:t>Thu thập, bóc tách và tìm kiếm thông tin trên các website Đại học Bách khoa Hà Nội</a:t>
            </a:r>
            <a:endParaRPr lang="vi-VN" sz="2600">
              <a:solidFill>
                <a:schemeClr val="dk2"/>
              </a:solidFill>
            </a:endParaRP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35"/>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39" name="Google Shape;1439;p35"/>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52" name="Google Shape;1452;p35"/>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3200">
                <a:solidFill>
                  <a:schemeClr val="dk2"/>
                </a:solidFill>
                <a:latin typeface="IBM Plex Mono" panose="020B0509050203000203"/>
                <a:ea typeface="IBM Plex Mono" panose="020B0509050203000203"/>
                <a:cs typeface="IBM Plex Mono" panose="020B0509050203000203"/>
                <a:sym typeface="IBM Plex Mono" panose="020B0509050203000203"/>
              </a:rPr>
              <a:t>Nội dung</a:t>
            </a:r>
            <a:endParaRPr lang="vi-VN" sz="3200">
              <a:solidFill>
                <a:schemeClr val="dk2"/>
              </a:solidFill>
              <a:latin typeface="IBM Plex Mono" panose="020B0509050203000203"/>
              <a:ea typeface="IBM Plex Mono" panose="020B0509050203000203"/>
              <a:cs typeface="IBM Plex Mono" panose="020B0509050203000203"/>
              <a:sym typeface="IBM Plex Mono" panose="020B0509050203000203"/>
            </a:endParaRPr>
          </a:p>
        </p:txBody>
      </p:sp>
      <p:sp>
        <p:nvSpPr>
          <p:cNvPr id="1467" name="Google Shape;1467;p37"/>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Giới thiệu</a:t>
            </a:r>
            <a:endParaRPr lang="vi-VN"/>
          </a:p>
        </p:txBody>
      </p:sp>
      <p:sp>
        <p:nvSpPr>
          <p:cNvPr id="1468" name="Google Shape;1468;p37"/>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469" name="Google Shape;1469;p37"/>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từ tải trang tới lưu MongoDB</a:t>
            </a:r>
            <a:endParaRPr lang="vi-VN"/>
          </a:p>
        </p:txBody>
      </p:sp>
      <p:sp>
        <p:nvSpPr>
          <p:cNvPr id="1470" name="Google Shape;1470;p37"/>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sp>
        <p:nvSpPr>
          <p:cNvPr id="1471" name="Google Shape;1471;p37"/>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sp>
        <p:nvSpPr>
          <p:cNvPr id="1472" name="Google Shape;1472;p37"/>
          <p:cNvSpPr txBox="1"/>
          <p:nvPr>
            <p:ph type="title" idx="5"/>
          </p:nvPr>
        </p:nvSpPr>
        <p:spPr>
          <a:xfrm>
            <a:off x="720003"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01</a:t>
            </a:r>
            <a:endParaRPr lang="en-GB"/>
          </a:p>
        </p:txBody>
      </p:sp>
      <p:sp>
        <p:nvSpPr>
          <p:cNvPr id="1473" name="Google Shape;1473;p37"/>
          <p:cNvSpPr txBox="1"/>
          <p:nvPr>
            <p:ph type="title" idx="6"/>
          </p:nvPr>
        </p:nvSpPr>
        <p:spPr>
          <a:xfrm>
            <a:off x="720003"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03</a:t>
            </a:r>
            <a:endParaRPr lang="en-GB"/>
          </a:p>
        </p:txBody>
      </p:sp>
      <p:sp>
        <p:nvSpPr>
          <p:cNvPr id="1474" name="Google Shape;1474;p37"/>
          <p:cNvSpPr txBox="1"/>
          <p:nvPr>
            <p:ph type="title" idx="7"/>
          </p:nvPr>
        </p:nvSpPr>
        <p:spPr>
          <a:xfrm>
            <a:off x="4366698"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02</a:t>
            </a:r>
            <a:endParaRPr lang="en-GB"/>
          </a:p>
        </p:txBody>
      </p:sp>
      <p:sp>
        <p:nvSpPr>
          <p:cNvPr id="1475" name="Google Shape;1475;p37"/>
          <p:cNvSpPr txBox="1"/>
          <p:nvPr>
            <p:ph type="title" idx="8"/>
          </p:nvPr>
        </p:nvSpPr>
        <p:spPr>
          <a:xfrm>
            <a:off x="4366698"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04</a:t>
            </a:r>
            <a:endParaRPr lang="en-GB"/>
          </a:p>
        </p:txBody>
      </p:sp>
      <p:sp>
        <p:nvSpPr>
          <p:cNvPr id="1476" name="Google Shape;1476;p37"/>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Thu thập và bóc tách</a:t>
            </a:r>
            <a:endParaRPr lang="vi-VN"/>
          </a:p>
        </p:txBody>
      </p:sp>
      <p:sp>
        <p:nvSpPr>
          <p:cNvPr id="1477" name="Google Shape;1477;p37"/>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kiếm với Lucene</a:t>
            </a:r>
            <a:endParaRPr lang="vi-VN"/>
          </a:p>
        </p:txBody>
      </p:sp>
      <p:sp>
        <p:nvSpPr>
          <p:cNvPr id="1478" name="Google Shape;1478;p37"/>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Kết quả</a:t>
            </a:r>
            <a:endParaRPr lang="vi-V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01</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Giới thiệu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731" name="Shape 1731"/>
        <p:cNvGrpSpPr/>
        <p:nvPr/>
      </p:nvGrpSpPr>
      <p:grpSpPr>
        <a:xfrm>
          <a:off x="0" y="0"/>
          <a:ext cx="0" cy="0"/>
          <a:chOff x="0" y="0"/>
          <a:chExt cx="0" cy="0"/>
        </a:xfrm>
      </p:grpSpPr>
      <p:sp>
        <p:nvSpPr>
          <p:cNvPr id="1732" name="Google Shape;1732;p43"/>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Nội dung văn bản và trang dẫn tới tài liệu</a:t>
            </a:r>
            <a:endParaRPr lang="vi-VN"/>
          </a:p>
        </p:txBody>
      </p:sp>
      <p:sp>
        <p:nvSpPr>
          <p:cNvPr id="1733" name="Google Shape;1733;p43"/>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Đồ thị liên kết</a:t>
            </a:r>
            <a:endParaRPr lang="vi-VN"/>
          </a:p>
        </p:txBody>
      </p:sp>
      <p:sp>
        <p:nvSpPr>
          <p:cNvPr id="1734" name="Google Shape;1734;p4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735" name="Google Shape;1735;p43"/>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Trang web</a:t>
            </a:r>
            <a:endParaRPr lang="vi-VN"/>
          </a:p>
        </p:txBody>
      </p:sp>
      <p:sp>
        <p:nvSpPr>
          <p:cNvPr id="1736" name="Google Shape;1736;p43"/>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tài liệu</a:t>
            </a:r>
            <a:endParaRPr lang="vi-VN"/>
          </a:p>
        </p:txBody>
      </p:sp>
      <p:sp>
        <p:nvSpPr>
          <p:cNvPr id="1737" name="Google Shape;1737;p43"/>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chứa ảnh và dữ liệu ảnh</a:t>
            </a:r>
            <a:endParaRPr lang="vi-VN"/>
          </a:p>
        </p:txBody>
      </p:sp>
      <p:sp>
        <p:nvSpPr>
          <p:cNvPr id="1738" name="Google Shape;1738;p43"/>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trang nguồn tới trang đích, kèm văn bản mô tả liên kết</a:t>
            </a:r>
            <a:endParaRPr lang="vi-VN"/>
          </a:p>
        </p:txBody>
      </p:sp>
      <p:sp>
        <p:nvSpPr>
          <p:cNvPr id="1739" name="Google Shape;1739;p43"/>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ảnh</a:t>
            </a:r>
            <a:endParaRPr lang="vi-VN"/>
          </a:p>
        </p:txBody>
      </p:sp>
      <p:sp>
        <p:nvSpPr>
          <p:cNvPr id="1740" name="Google Shape;1740;p43"/>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Tiêu đề, ngày đăng, tác giả, nội dung, văn bản liên kết trỏ tới</a:t>
            </a:r>
            <a:endParaRPr lang="vi-V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02</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Thu thập dữ liệu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Công nghệ sử dụng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05" name="cong-nghe.png" descr="cong-nghe.png"/>
          <p:cNvPicPr>
            <a:picLocks noChangeAspect="1"/>
          </p:cNvPicPr>
          <p:nvPr/>
        </p:nvPicPr>
        <p:blipFill>
          <a:blip r:embed="rId1"/>
          <a:stretch>
            <a:fillRect/>
          </a:stretch>
        </p:blipFill>
        <p:spPr>
          <a:xfrm>
            <a:off x="2412356" y="1097280"/>
            <a:ext cx="4319287" cy="3840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tổng thể</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5" name="kien-truc.png" descr="kien-truc.png"/>
          <p:cNvPicPr>
            <a:picLocks noChangeAspect="1"/>
          </p:cNvPicPr>
          <p:nvPr/>
        </p:nvPicPr>
        <p:blipFill>
          <a:blip r:embed="rId1"/>
          <a:stretch>
            <a:fillRect/>
          </a:stretch>
        </p:blipFill>
        <p:spPr>
          <a:xfrm>
            <a:off x="836369" y="1097280"/>
            <a:ext cx="7471261"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Điều phối, tải và lập lịch</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6" name="dieu-phoi-tai.png" descr="dieu-phoi-tai.png"/>
          <p:cNvPicPr>
            <a:picLocks noChangeAspect="1"/>
          </p:cNvPicPr>
          <p:nvPr/>
        </p:nvPicPr>
        <p:blipFill>
          <a:blip r:embed="rId1"/>
          <a:stretch>
            <a:fillRect/>
          </a:stretch>
        </p:blipFill>
        <p:spPr>
          <a:xfrm>
            <a:off x="1987309" y="1097280"/>
            <a:ext cx="5169380" cy="38404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Bóc tách trang web và tài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7" name="reader.png" descr="reader.png"/>
          <p:cNvPicPr>
            <a:picLocks noChangeAspect="1"/>
          </p:cNvPicPr>
          <p:nvPr/>
        </p:nvPicPr>
        <p:blipFill>
          <a:blip r:embed="rId1"/>
          <a:stretch>
            <a:fillRect/>
          </a:stretch>
        </p:blipFill>
        <p:spPr>
          <a:xfrm>
            <a:off x="2113944" y="1097280"/>
            <a:ext cx="4916110"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vùng nội dung chính</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web có menu, thanh bên, chân trang lẫn với bài viết.</a:t>
            </a:r>
            <a:endParaRPr lang="vi-VN"/>
          </a:p>
          <a:p>
            <a:pPr marL="0" lvl="0" indent="0" algn="l" rtl="0">
              <a:spcBef>
                <a:spcPts val="0"/>
              </a:spcBef>
              <a:spcAft>
                <a:spcPts val="0"/>
              </a:spcAft>
              <a:buNone/>
            </a:pPr>
            <a:r>
              <a:rPr lang="vi-VN"/>
              <a:t>Mỗi vùng được chấm điểm: nhiều chữ, nhiều đoạn văn thì cao; nhiều chữ trong liên kết thì bị trừ.</a:t>
            </a:r>
            <a:endParaRPr lang="vi-VN"/>
          </a:p>
          <a:p>
            <a:pPr marL="0" lvl="0" indent="0" algn="l" rtl="0">
              <a:spcBef>
                <a:spcPts val="0"/>
              </a:spcBef>
              <a:spcAft>
                <a:spcPts val="0"/>
              </a:spcAft>
              <a:buNone/>
            </a:pPr>
            <a:r>
              <a:rPr lang="vi-VN"/>
              <a:t>Vùng điểm cao nhất là bài viết.</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12" name="thuat-toan-khoi-noi-dung.png" descr="thuat-toan-khoi-noi-dung.png"/>
          <p:cNvPicPr>
            <a:picLocks noChangeAspect="1"/>
          </p:cNvPicPr>
          <p:nvPr/>
        </p:nvPicPr>
        <p:blipFill>
          <a:blip r:embed="rId1"/>
          <a:stretch>
            <a:fillRect/>
          </a:stretch>
        </p:blipFill>
        <p:spPr>
          <a:xfrm>
            <a:off x="4345705" y="228600"/>
            <a:ext cx="4201629"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Loại trùng và phát hiện thay đổi</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trùng nội dung chỉ lưu bản rút gọn trỏ về trang gốc.</a:t>
            </a:r>
            <a:endParaRPr lang="vi-VN"/>
          </a:p>
          <a:p>
            <a:pPr marL="0" lvl="0" indent="0" algn="l" rtl="0">
              <a:spcBef>
                <a:spcPts val="0"/>
              </a:spcBef>
              <a:spcAft>
                <a:spcPts val="0"/>
              </a:spcAft>
              <a:buNone/>
            </a:pPr>
            <a:r>
              <a:rPr lang="vi-VN"/>
              <a:t>Trang không đổi chỉ ghi thời điểm kiểm tra.</a:t>
            </a:r>
            <a:endParaRPr lang="vi-VN"/>
          </a:p>
          <a:p>
            <a:pPr marL="0" lvl="0" indent="0" algn="l" rtl="0">
              <a:spcBef>
                <a:spcPts val="0"/>
              </a:spcBef>
              <a:spcAft>
                <a:spcPts val="0"/>
              </a:spcAft>
              <a:buNone/>
            </a:pPr>
            <a:r>
              <a:rPr lang="vi-VN"/>
              <a:t>Liên kết mới qua sáu bước lọc trước khi đưa vào hàng đợi.</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3" name="merger.png" descr="merger.png"/>
          <p:cNvPicPr>
            <a:picLocks noChangeAspect="1"/>
          </p:cNvPicPr>
          <p:nvPr/>
        </p:nvPicPr>
        <p:blipFill>
          <a:blip r:embed="rId1"/>
          <a:stretch>
            <a:fillRect/>
          </a:stretch>
        </p:blipFill>
        <p:spPr>
          <a:xfrm>
            <a:off x="4550028" y="228600"/>
            <a:ext cx="3792983"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Lưu trữ vào MongoDB</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Lưu trang web, tài liệu và đồ thị liên kết.</a:t>
            </a:r>
            <a:endParaRPr lang="vi-VN"/>
          </a:p>
          <a:p>
            <a:pPr marL="0" lvl="0" indent="0" algn="l" rtl="0">
              <a:spcBef>
                <a:spcPts val="0"/>
              </a:spcBef>
              <a:spcAft>
                <a:spcPts val="0"/>
              </a:spcAft>
              <a:buNone/>
            </a:pPr>
            <a:r>
              <a:rPr lang="vi-VN"/>
              <a:t>Văn bản giới thiệu của một trang gom từ các câu trang khác dùng để dẫn tới nó.</a:t>
            </a:r>
            <a:endParaRPr lang="vi-VN"/>
          </a:p>
          <a:p>
            <a:pPr marL="0" lvl="0" indent="0" algn="l" rtl="0">
              <a:spcBef>
                <a:spcPts val="0"/>
              </a:spcBef>
              <a:spcAft>
                <a:spcPts val="0"/>
              </a:spcAft>
              <a:buNone/>
            </a:pPr>
            <a:r>
              <a:rPr lang="vi-VN"/>
              <a:t>Ảnh được tải sau khi thu thập xong.</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4" name="storage.png" descr="storage.png"/>
          <p:cNvPicPr>
            <a:picLocks noChangeAspect="1"/>
          </p:cNvPicPr>
          <p:nvPr/>
        </p:nvPicPr>
        <p:blipFill>
          <a:blip r:embed="rId1"/>
          <a:stretch>
            <a:fillRect/>
          </a:stretch>
        </p:blipFill>
        <p:spPr>
          <a:xfrm>
            <a:off x="4497083" y="228600"/>
            <a:ext cx="389887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Lược đồ dữ liệu và xuất dữ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8" name="luoc-do-mongo.png" descr="luoc-do-mongo.png"/>
          <p:cNvPicPr>
            <a:picLocks noChangeAspect="1"/>
          </p:cNvPicPr>
          <p:nvPr/>
        </p:nvPicPr>
        <p:blipFill>
          <a:blip r:embed="rId1"/>
          <a:stretch>
            <a:fillRect/>
          </a:stretch>
        </p:blipFill>
        <p:spPr>
          <a:xfrm>
            <a:off x="2275425" y="1097280"/>
            <a:ext cx="4593148" cy="38404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03</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Tìm kiếm Lucene</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tìm kiếm</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65" name="kien-truc-lucene.png" descr="kien-truc-lucene.png"/>
          <p:cNvPicPr>
            <a:picLocks noChangeAspect="1"/>
          </p:cNvPicPr>
          <p:nvPr/>
        </p:nvPicPr>
        <p:blipFill>
          <a:blip r:embed="rId1"/>
          <a:stretch>
            <a:fillRect/>
          </a:stretch>
        </p:blipFill>
        <p:spPr>
          <a:xfrm>
            <a:off x="600000" y="1825594"/>
            <a:ext cx="7944000" cy="23488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Tiền xử lý văn bản tiếng Việt</a:t>
            </a:r>
            <a:endParaRPr lang="vi-VN"/>
          </a:p>
        </p:txBody>
      </p:sp>
      <p:pic>
        <p:nvPicPr>
          <p:cNvPr id="9066" name="tien-xu-ly.png" descr="tien-xu-ly.png"/>
          <p:cNvPicPr>
            <a:picLocks noChangeAspect="1"/>
          </p:cNvPicPr>
          <p:nvPr/>
        </p:nvPicPr>
        <p:blipFill>
          <a:blip r:embed="rId1"/>
          <a:stretch>
            <a:fillRect/>
          </a:stretch>
        </p:blipFill>
        <p:spPr>
          <a:xfrm>
            <a:off x="4650000" y="1766202"/>
            <a:ext cx="4150000" cy="2567596"/>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Tài liệu và truy vấn đi qua cùng một chuỗi bước.</a:t>
            </a:r>
            <a:endParaRPr lang="vi-VN"/>
          </a:p>
          <a:p>
            <a:pPr marL="0" lvl="0" indent="0" algn="l" rtl="0">
              <a:spcBef>
                <a:spcPts val="0"/>
              </a:spcBef>
              <a:spcAft>
                <a:spcPts val="900"/>
              </a:spcAft>
              <a:buNone/>
            </a:pPr>
            <a:r>
              <a:rPr lang="vi-VN"/>
              <a:t>VnCoreNLP </a:t>
            </a:r>
            <a:r>
              <a:rPr lang="en-US" altLang="vi-VN"/>
              <a:t>dùng để tách</a:t>
            </a:r>
            <a:r>
              <a:rPr lang="vi-VN"/>
              <a:t> từ; văn bản dài được cắt theo dòng trước khi tách.</a:t>
            </a:r>
            <a:endParaRPr lang="vi-VN"/>
          </a:p>
          <a:p>
            <a:pPr marL="0" lvl="0" indent="0" algn="l" rtl="0">
              <a:spcBef>
                <a:spcPts val="0"/>
              </a:spcBef>
              <a:spcAft>
                <a:spcPts val="900"/>
              </a:spcAft>
              <a:buNone/>
            </a:pPr>
            <a:r>
              <a:rPr lang="vi-VN"/>
              <a:t>Bỏ dấu, nên gõ không dấu vẫn tìm được.</a:t>
            </a:r>
            <a:endParaRPr lang="vi-VN"/>
          </a:p>
          <a:p>
            <a:pPr marL="0" lvl="0" indent="0" algn="l" rtl="0">
              <a:spcBef>
                <a:spcPts val="0"/>
              </a:spcBef>
              <a:spcAft>
                <a:spcPts val="900"/>
              </a:spcAft>
              <a:buNone/>
            </a:pPr>
            <a:r>
              <a:rPr lang="vi-VN"/>
              <a:t>Giữ từ ghép và thêm từng âm tiết</a:t>
            </a:r>
            <a:r>
              <a:rPr lang="en-US" altLang="vi-VN"/>
              <a:t> đúng vị trí</a:t>
            </a:r>
            <a:r>
              <a:rPr lang="vi-VN"/>
              <a:t>, để khớp theo cụm khi cách tách từ lệch nhau.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a:t>
            </a:r>
            <a:endParaRPr lang="vi-VN"/>
          </a:p>
        </p:txBody>
      </p:sp>
      <p:pic>
        <p:nvPicPr>
          <p:cNvPr id="9067" name="lap-chi-muc.png" descr="lap-chi-muc.png"/>
          <p:cNvPicPr>
            <a:picLocks noChangeAspect="1"/>
          </p:cNvPicPr>
          <p:nvPr/>
        </p:nvPicPr>
        <p:blipFill>
          <a:blip r:embed="rId1"/>
          <a:stretch>
            <a:fillRect/>
          </a:stretch>
        </p:blipFill>
        <p:spPr>
          <a:xfrm>
            <a:off x="4650000" y="1300000"/>
            <a:ext cx="4150000" cy="282805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Mỗi trang, mỗi tệp là một tài liệu, khoá là URL; trang trùng nội dung bị bỏ.</a:t>
            </a:r>
            <a:endParaRPr lang="vi-VN"/>
          </a:p>
          <a:p>
            <a:pPr marL="0" lvl="0" indent="0" algn="l" rtl="0">
              <a:spcBef>
                <a:spcPts val="0"/>
              </a:spcBef>
              <a:spcAft>
                <a:spcPts val="900"/>
              </a:spcAft>
              <a:buNone/>
            </a:pPr>
            <a:r>
              <a:rPr lang="vi-VN"/>
              <a:t>Tệp PDF</a:t>
            </a:r>
            <a:r>
              <a:rPr lang="en-US" altLang="vi-VN"/>
              <a:t>, ảnh</a:t>
            </a:r>
            <a:r>
              <a:rPr lang="vi-VN"/>
              <a:t> được gắn văn bản của các liên kết trỏ tới nó</a:t>
            </a:r>
            <a:r>
              <a:rPr lang="en-US" altLang="vi-VN"/>
              <a:t>, chứa nó</a:t>
            </a:r>
            <a:r>
              <a:rPr lang="vi-VN"/>
              <a:t>.</a:t>
            </a:r>
            <a:endParaRPr lang="vi-VN"/>
          </a:p>
          <a:p>
            <a:pPr marL="0" lvl="0" indent="0" algn="l" rtl="0">
              <a:spcBef>
                <a:spcPts val="0"/>
              </a:spcBef>
              <a:spcAft>
                <a:spcPts val="900"/>
              </a:spcAft>
              <a:buNone/>
            </a:pPr>
            <a:r>
              <a:rPr lang="vi-VN"/>
              <a:t>Đồng bộ chỉ đọc bản ghi vừa đổi: thêm, ghi đè hoặc xoá.</a:t>
            </a:r>
            <a:endParaRPr lang="vi-VN"/>
          </a:p>
          <a:p>
            <a:pPr marL="0" lvl="0" indent="0" algn="l" rtl="0">
              <a:spcBef>
                <a:spcPts val="0"/>
              </a:spcBef>
              <a:spcAft>
                <a:spcPts val="900"/>
              </a:spcAft>
              <a:buNone/>
            </a:pPr>
            <a:r>
              <a:rPr lang="vi-VN"/>
              <a:t>PageRank bỏ liên kết khuôn mẫu như menu, chân trang</a:t>
            </a:r>
            <a:r>
              <a:rPr lang="en-US" altLang="vi-VN"/>
              <a:t> do có rất nhiều url cùng 1 page</a:t>
            </a:r>
            <a:r>
              <a:rPr lang="vi-VN"/>
              <a:t>.</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Tìm kiếm và xếp hạng</a:t>
            </a:r>
            <a:endParaRPr lang="vi-VN"/>
          </a:p>
        </p:txBody>
      </p:sp>
      <p:pic>
        <p:nvPicPr>
          <p:cNvPr id="9068" name="tim-kiem.png" descr="tim-kiem.png"/>
          <p:cNvPicPr>
            <a:picLocks noChangeAspect="1"/>
          </p:cNvPicPr>
          <p:nvPr/>
        </p:nvPicPr>
        <p:blipFill>
          <a:blip r:embed="rId1"/>
          <a:stretch>
            <a:fillRect/>
          </a:stretch>
        </p:blipFill>
        <p:spPr>
          <a:xfrm>
            <a:off x="4650000" y="1307586"/>
            <a:ext cx="4150000" cy="3484828"/>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Truy vấn trơn:</a:t>
            </a:r>
            <a:r>
              <a:rPr lang="en-US" altLang="vi-VN"/>
              <a:t> tính điểm theo</a:t>
            </a:r>
            <a:r>
              <a:rPr lang="vi-VN"/>
              <a:t> âm tiết đứng liền nhau</a:t>
            </a:r>
            <a:r>
              <a:rPr lang="en-US" altLang="vi-VN"/>
              <a:t> +</a:t>
            </a:r>
            <a:r>
              <a:rPr lang="vi-VN"/>
              <a:t> từ ghép.</a:t>
            </a:r>
            <a:endParaRPr lang="vi-VN"/>
          </a:p>
          <a:p>
            <a:pPr marL="0" lvl="0" indent="0" algn="l" rtl="0">
              <a:spcBef>
                <a:spcPts val="0"/>
              </a:spcBef>
              <a:spcAft>
                <a:spcPts val="900"/>
              </a:spcAft>
              <a:buNone/>
            </a:pPr>
            <a:r>
              <a:rPr lang="vi-VN"/>
              <a:t>T</a:t>
            </a:r>
            <a:r>
              <a:rPr lang="en-US" altLang="vi-VN"/>
              <a:t>itle có trọng số x3</a:t>
            </a:r>
            <a:r>
              <a:rPr lang="vi-VN"/>
              <a:t> </a:t>
            </a:r>
            <a:r>
              <a:rPr lang="en-US" altLang="vi-VN"/>
              <a:t>content, intro có trọng số x1.5 content</a:t>
            </a:r>
            <a:r>
              <a:rPr lang="vi-VN"/>
              <a:t>.</a:t>
            </a:r>
            <a:endParaRPr lang="vi-VN"/>
          </a:p>
          <a:p>
            <a:pPr marL="0" lvl="0" indent="0" algn="l" rtl="0">
              <a:spcBef>
                <a:spcPts val="0"/>
              </a:spcBef>
              <a:spcAft>
                <a:spcPts val="900"/>
              </a:spcAft>
              <a:buNone/>
            </a:pPr>
            <a:r>
              <a:rPr lang="vi-VN"/>
              <a:t>Thêm viết tắt của trường, như ktx thành ký túc xá.</a:t>
            </a:r>
            <a:endParaRPr lang="vi-VN"/>
          </a:p>
          <a:p>
            <a:pPr marL="0" lvl="0" indent="0" algn="l" rtl="0">
              <a:spcBef>
                <a:spcPts val="0"/>
              </a:spcBef>
              <a:spcAft>
                <a:spcPts val="900"/>
              </a:spcAft>
              <a:buNone/>
            </a:pPr>
            <a:r>
              <a:rPr lang="en-US" altLang="vi-VN"/>
              <a:t>Điểm = </a:t>
            </a:r>
            <a:r>
              <a:rPr lang="vi-VN"/>
              <a:t>BM25 </a:t>
            </a:r>
            <a:r>
              <a:rPr lang="en-US" altLang="vi-VN"/>
              <a:t>+</a:t>
            </a:r>
            <a:r>
              <a:rPr lang="vi-VN"/>
              <a:t> PageRank.</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04</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Kết quả</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141.353 trang</a:t>
            </a:r>
            <a:endParaRPr lang="vi-VN"/>
          </a:p>
        </p:txBody>
      </p:sp>
      <p:sp>
        <p:nvSpPr>
          <p:cNvPr id="1917" name="Google Shape;1917;p4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77 website, kèm 5.860 tệp tài liệu</a:t>
            </a:r>
            <a:endParaRPr lang="vi-VN"/>
          </a:p>
        </p:txBody>
      </p:sp>
      <p:sp>
        <p:nvSpPr>
          <p:cNvPr id="1918" name="Google Shape;1918;p48"/>
          <p:cNvSpPr txBox="1"/>
          <p:nvPr>
            <p:ph type="title" idx="2"/>
          </p:nvPr>
        </p:nvSpPr>
        <p:spPr>
          <a:xfrm>
            <a:off x="2358450" y="2027244"/>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114.476 ảnh</a:t>
            </a:r>
            <a:endParaRPr lang="vi-VN"/>
          </a:p>
        </p:txBody>
      </p:sp>
      <p:sp>
        <p:nvSpPr>
          <p:cNvPr id="1919" name="Google Shape;1919;p4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98.274 ảnh tải được, đạt 85,8%</a:t>
            </a:r>
            <a:endParaRPr lang="vi-VN"/>
          </a:p>
        </p:txBody>
      </p:sp>
      <p:sp>
        <p:nvSpPr>
          <p:cNvPr id="1920" name="Google Shape;1920;p48"/>
          <p:cNvSpPr txBox="1"/>
          <p:nvPr>
            <p:ph type="title" idx="4"/>
          </p:nvPr>
        </p:nvSpPr>
        <p:spPr>
          <a:xfrm>
            <a:off x="2358450" y="3390475"/>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8,25 triệu</a:t>
            </a:r>
            <a:endParaRPr lang="vi-VN"/>
          </a:p>
        </p:txBody>
      </p:sp>
      <p:sp>
        <p:nvSpPr>
          <p:cNvPr id="1921" name="Google Shape;1921;p4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liên kết giữa các trang trong đồ thị</a:t>
            </a:r>
            <a:endParaRPr lang="vi-VN"/>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4" name="Google Shape;1924;p48"/>
            <p:cNvSpPr/>
            <p:nvPr/>
          </p:nvSpPr>
          <p:spPr>
            <a:xfrm>
              <a:off x="7191305" y="-124437"/>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5" name="Google Shape;1925;p48"/>
            <p:cNvSpPr/>
            <p:nvPr/>
          </p:nvSpPr>
          <p:spPr>
            <a:xfrm>
              <a:off x="7867013" y="75068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6" name="Google Shape;1926;p48"/>
            <p:cNvSpPr/>
            <p:nvPr/>
          </p:nvSpPr>
          <p:spPr>
            <a:xfrm>
              <a:off x="7789451" y="-2619788"/>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9" name="Google Shape;1929;p48"/>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1"/>
            <a:srcRect l="16960" t="24719" r="7121" b="26177"/>
            <a:stretch>
              <a:fillRect/>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4" name="Google Shape;1934;p48"/>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5" name="Google Shape;1935;p48"/>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6" name="Google Shape;1936;p48"/>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1" name="Google Shape;1941;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4" name="Google Shape;1944;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Kết quả tìm kiếm</a:t>
            </a:r>
            <a:endParaRPr lang="vi-VN"/>
          </a:p>
        </p:txBody>
      </p:sp>
      <p:pic>
        <p:nvPicPr>
          <p:cNvPr id="9069" name="ket-qua-tim-kiem.png" descr="ket-qua-tim-kiem.png"/>
          <p:cNvPicPr>
            <a:picLocks noChangeAspect="1"/>
          </p:cNvPicPr>
          <p:nvPr/>
        </p:nvPicPr>
        <p:blipFill>
          <a:blip r:embed="rId1"/>
          <a:stretch>
            <a:fillRect/>
          </a:stretch>
        </p:blipFill>
        <p:spPr>
          <a:xfrm>
            <a:off x="4650000" y="1224570"/>
            <a:ext cx="4150000" cy="3650859"/>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116.132 tài liệu, chỉ mục 398 MB, lập trong 635 giây.</a:t>
            </a:r>
            <a:endParaRPr lang="vi-VN"/>
          </a:p>
          <a:p>
            <a:pPr marL="0" lvl="0" indent="0" algn="l" rtl="0">
              <a:spcBef>
                <a:spcPts val="0"/>
              </a:spcBef>
              <a:spcAft>
                <a:spcPts val="900"/>
              </a:spcAft>
              <a:buNone/>
            </a:pPr>
            <a:r>
              <a:rPr lang="vi-VN"/>
              <a:t>Khoảng 0,13 giây mỗi truy vấn.</a:t>
            </a:r>
            <a:endParaRPr lang="vi-VN"/>
          </a:p>
          <a:p>
            <a:pPr marL="0" lvl="0" indent="0" algn="l" rtl="0">
              <a:spcBef>
                <a:spcPts val="0"/>
              </a:spcBef>
              <a:spcAft>
                <a:spcPts val="900"/>
              </a:spcAft>
              <a:buNone/>
            </a:pPr>
            <a:r>
              <a:rPr lang="vi-VN"/>
              <a:t>Đồng bộ một đợt 161 bản ghi trong 1,1 giây.</a:t>
            </a:r>
            <a:endParaRPr lang="vi-VN"/>
          </a:p>
          <a:p>
            <a:pPr marL="0" lvl="0" indent="0" algn="l" rtl="0">
              <a:spcBef>
                <a:spcPts val="0"/>
              </a:spcBef>
              <a:spcAft>
                <a:spcPts val="900"/>
              </a:spcAft>
              <a:buNone/>
            </a:pPr>
            <a:r>
              <a:rPr lang="vi-VN"/>
              <a:t>Ẩn trùng: bản sao cùng bài trong top 10 của 20 truy vấn từ 29 còn 0.</a:t>
            </a:r>
            <a:endParaRPr lang="vi-VN"/>
          </a:p>
          <a:p>
            <a:pPr marL="0" lvl="0" indent="0" algn="l" rtl="0">
              <a:spcBef>
                <a:spcPts val="0"/>
              </a:spcBef>
              <a:spcAft>
                <a:spcPts val="900"/>
              </a:spcAft>
              <a:buNone/>
            </a:pP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410" name="Shape 2410"/>
        <p:cNvGrpSpPr/>
        <p:nvPr/>
      </p:nvGrpSpPr>
      <p:grpSpPr>
        <a:xfrm>
          <a:off x="0" y="0"/>
          <a:ext cx="0" cy="0"/>
          <a:chOff x="0" y="0"/>
          <a:chExt cx="0" cy="0"/>
        </a:xfrm>
      </p:grpSpPr>
      <p:sp>
        <p:nvSpPr>
          <p:cNvPr id="2412" name="Google Shape;2412;p64"/>
          <p:cNvSpPr txBox="1"/>
          <p:nvPr>
            <p:ph type="title"/>
          </p:nvPr>
        </p:nvSpPr>
        <p:spPr>
          <a:xfrm>
            <a:off x="1157302" y="1783080"/>
            <a:ext cx="51267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Cảm ơn!</a:t>
            </a:r>
            <a:endParaRPr lang="vi-VN"/>
          </a:p>
        </p:txBody>
      </p:sp>
      <p:grpSp>
        <p:nvGrpSpPr>
          <p:cNvPr id="2431" name="Google Shape;2431;p64"/>
          <p:cNvGrpSpPr/>
          <p:nvPr/>
        </p:nvGrpSpPr>
        <p:grpSpPr>
          <a:xfrm rot="10800000" flipH="1">
            <a:off x="6773992" y="-1205456"/>
            <a:ext cx="4151819" cy="5527900"/>
            <a:chOff x="6309526" y="836950"/>
            <a:chExt cx="3920509" cy="5219925"/>
          </a:xfrm>
        </p:grpSpPr>
        <p:pic>
          <p:nvPicPr>
            <p:cNvPr id="2432" name="Google Shape;2432;p64"/>
            <p:cNvPicPr preferRelativeResize="0"/>
            <p:nvPr/>
          </p:nvPicPr>
          <p:blipFill rotWithShape="1">
            <a:blip r:embed="rId1"/>
            <a:srcRect l="16960" t="24719" r="7121" b="26177"/>
            <a:stretch>
              <a:fillRect/>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4" name="Google Shape;2434;p64"/>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5" name="Google Shape;2435;p6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8" name="Google Shape;2438;p6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9" name="Google Shape;2439;p6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0" name="Google Shape;2440;p6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1" name="Google Shape;2441;p6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2" name="Google Shape;2442;p6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3" name="Google Shape;2443;p6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53" name="Google Shape;2453;p64"/>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6" name="Google Shape;2456;p6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7" name="Google Shape;2457;p6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0" name="Google Shape;2460;p6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1" name="Google Shape;2461;p6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62" name="Google Shape;2462;p6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63" name="Google Shape;2463;p64"/>
          <p:cNvGrpSpPr/>
          <p:nvPr/>
        </p:nvGrpSpPr>
        <p:grpSpPr>
          <a:xfrm>
            <a:off x="1234025" y="4151751"/>
            <a:ext cx="4558967" cy="134100"/>
            <a:chOff x="796100" y="3019701"/>
            <a:chExt cx="4558967" cy="134100"/>
          </a:xfrm>
        </p:grpSpPr>
        <p:sp>
          <p:nvSpPr>
            <p:cNvPr id="2464" name="Google Shape;2464;p6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65" name="Google Shape;2465;p6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66" name="Google Shape;2466;p6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Ẩn kết quả trùng lặp</a:t>
            </a:r>
            <a:endParaRPr lang="vi-VN"/>
          </a:p>
        </p:txBody>
      </p:sp>
      <p:pic>
        <p:nvPicPr>
          <p:cNvPr id="9068" name="an-trung.png" descr="an-trung.png"/>
          <p:cNvPicPr>
            <a:picLocks noChangeAspect="1"/>
          </p:cNvPicPr>
          <p:nvPr/>
        </p:nvPicPr>
        <p:blipFill>
          <a:blip r:embed="rId1"/>
          <a:stretch>
            <a:fillRect/>
          </a:stretch>
        </p:blipFill>
        <p:spPr>
          <a:xfrm>
            <a:off x="4738203" y="1150000"/>
            <a:ext cx="4061797" cy="375000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Một bài thường có nhiều địa chỉ: bản tiếng Việt, bản tiếng Anh, bản in.</a:t>
            </a:r>
            <a:endParaRPr lang="vi-VN"/>
          </a:p>
          <a:p>
            <a:pPr marL="0" lvl="0" indent="0" algn="l" rtl="0">
              <a:spcBef>
                <a:spcPts val="0"/>
              </a:spcBef>
              <a:spcAft>
                <a:spcPts val="900"/>
              </a:spcAft>
              <a:buNone/>
            </a:pPr>
            <a:r>
              <a:rPr lang="vi-VN"/>
              <a:t>Chỉ so nội dung không đủ: ba bản chỉ giống nhau 0,84 và 0,86.</a:t>
            </a:r>
            <a:endParaRPr lang="vi-VN"/>
          </a:p>
          <a:p>
            <a:pPr marL="0" lvl="0" indent="0" algn="l" rtl="0">
              <a:spcBef>
                <a:spcPts val="0"/>
              </a:spcBef>
              <a:spcAft>
                <a:spcPts val="900"/>
              </a:spcAft>
              <a:buNone/>
            </a:pPr>
            <a:r>
              <a:rPr lang="vi-VN"/>
              <a:t>Ẩn khi giống từ 90%, hoặc cùng tiêu đề và đường dẫn</a:t>
            </a:r>
            <a:r>
              <a:rPr lang="en-US" altLang="vi-VN"/>
              <a:t> </a:t>
            </a:r>
            <a:r>
              <a:rPr lang="vi-VN"/>
              <a:t>giống từ 60%.</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Phân loại URL và lịch tải lại</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loại URL" descr="Bốn loại URL, cách nhận biết và lịch tải lại"/>
          <p:cNvGraphicFramePr>
            <a:graphicFrameLocks noGrp="1"/>
          </p:cNvGraphicFramePr>
          <p:nvPr/>
        </p:nvGraphicFramePr>
        <p:xfrm>
          <a:off x="720000" y="1080000"/>
          <a:ext cx="7704000" cy="1860000"/>
        </p:xfrm>
        <a:graphic>
          <a:graphicData uri="http://schemas.openxmlformats.org/drawingml/2006/table">
            <a:tbl>
              <a:tblPr firstRow="1"/>
              <a:tblGrid>
                <a:gridCol w="1250000"/>
                <a:gridCol w="3000000"/>
                <a:gridCol w="950000"/>
                <a:gridCol w="2504000"/>
              </a:tblGrid>
              <a:tr h="340000">
                <a:tc>
                  <a:txBody>
                    <a:bodyPr/>
                    <a:lstStyle/>
                    <a:p>
                      <a:pPr marL="0" indent="0">
                        <a:buNone/>
                      </a:pPr>
                      <a:r>
                        <a:rPr lang="vi-VN" sz="1100" b="1">
                          <a:solidFill>
                            <a:schemeClr val="lt1"/>
                          </a:solidFill>
                          <a:latin typeface="Be Vietnam Pro"/>
                          <a:ea typeface="Be Vietnam Pro"/>
                          <a:cs typeface="Be Vietnam Pro"/>
                          <a:sym typeface="Be Vietnam Pro"/>
                        </a:rPr>
                        <a:t>Loại URL</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Nhận biết từ đường dẫn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Tải lại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Các lần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chủ</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 /vi hoặc /en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Luôn giữ 1 ngày, vì bài mới xuất hiện ở đây trước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500000">
                <a:tc>
                  <a:txBody>
                    <a:bodyPr/>
                    <a:lstStyle/>
                    <a:p>
                      <a:pPr marL="0" indent="0">
                        <a:buNone/>
                      </a:pPr>
                      <a:r>
                        <a:rPr lang="vi-VN" sz="1100" b="1">
                          <a:solidFill>
                            <a:schemeClr val="dk1"/>
                          </a:solidFill>
                          <a:latin typeface="Be Vietnam Pro"/>
                          <a:ea typeface="Be Vietnam Pro"/>
                          <a:cs typeface="Be Vietnam Pro"/>
                          <a:sym typeface="Be Vietnam Pro"/>
                        </a:rPr>
                        <a:t>Trang mục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Đoạn cuối là tin-tuc, thong-bao, news…</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thường</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Các URL còn lại</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7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Không đổi: giãn gấp đôi, tối đa 90 ngày</a:t>
                      </a:r>
                    </a:p>
                    <a:p>
                      <a:pPr marL="0" indent="0">
                        <a:buNone/>
                      </a:pPr>
                      <a:r>
                        <a:rPr lang="vi-VN" sz="1100" b="0">
                          <a:solidFill>
                            <a:schemeClr val="dk1"/>
                          </a:solidFill>
                          <a:latin typeface="Be Vietnam Pro"/>
                          <a:ea typeface="Be Vietnam Pro"/>
                          <a:cs typeface="Be Vietnam Pro"/>
                          <a:sym typeface="Be Vietnam Pro"/>
                        </a:rPr>
                        <a:t>Có đổi: giảm một nửa, không dưới chu kỳ gốc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Tài liệu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Đuôi .pdf, .docx, .xlsx…</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30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hân loại"/>
          <p:cNvSpPr txBox="1"/>
          <p:nvPr/>
        </p:nvSpPr>
        <p:spPr>
          <a:xfrm>
            <a:off x="720000" y="3240000"/>
            <a:ext cx="7704000" cy="62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Xem lại thường xuyên nơi có bài mới, giảm tải cho website của trường: chỉ 892 trong hơn 160.000 URL là loại tải lại mỗi ngày.</a:t>
            </a:r>
          </a:p>
          <a:p>
            <a:pPr marL="0" indent="0">
              <a:spcAft>
                <a:spcPts val="400"/>
              </a:spcAft>
              <a:buNone/>
            </a:pPr>
            <a:r>
              <a:rPr lang="vi-VN" sz="1200" b="0">
                <a:solidFill>
                  <a:schemeClr val="dk1"/>
                </a:solidFill>
                <a:latin typeface="Be Vietnam Pro"/>
                <a:ea typeface="Be Vietnam Pro"/>
                <a:cs typeface="Be Vietnam Pro"/>
                <a:sym typeface="Be Vietnam Pro"/>
              </a:rPr>
              <a:t>Phân loại chỉ quyết định lịch tải lại; hàng đợi vẫn lấy URL theo thời điểm đến hạn.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Cách bóc tách từng trường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Cách bóc tách từng trường" descr="Cách bóc tách từng trường"/>
          <p:cNvGraphicFramePr>
            <a:graphicFrameLocks noGrp="1"/>
          </p:cNvGraphicFramePr>
          <p:nvPr/>
        </p:nvGraphicFramePr>
        <p:xfrm>
          <a:off x="720000" y="1080000"/>
          <a:ext cx="7704000" cy="2100000"/>
        </p:xfrm>
        <a:graphic>
          <a:graphicData uri="http://schemas.openxmlformats.org/drawingml/2006/table">
            <a:tbl>
              <a:tblPr firstRow="1"/>
              <a:tblGrid>
                <a:gridCol w="1500000"/>
                <a:gridCol w="6204000"/>
              </a:tblGrid>
              <a:tr h="300000">
                <a:tc>
                  <a:txBody>
                    <a:bodyPr/>
                    <a:lstStyle/>
                    <a:p>
                      <a:pPr marL="0" indent="0">
                        <a:buNone/>
                      </a:pPr>
                      <a:r>
                        <a:rPr lang="vi-VN" sz="1100" b="1">
                          <a:solidFill>
                            <a:schemeClr val="lt1"/>
                          </a:solidFill>
                          <a:latin typeface="Be Vietnam Pro"/>
                          <a:ea typeface="Be Vietnam Pro"/>
                          <a:cs typeface="Be Vietnam Pro"/>
                          <a:sym typeface="Be Vietnam Pro"/>
                        </a:rPr>
                        <a:t>Trường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Lấy từ đâu, theo thứ tự ưu tiên</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article, main, rồi class gợi ý nội dung; chọn vùng điểm cao nhất, bỏ menu, chân trang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Tiêu đề</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h1 trong vùng nội dung, og:title, title, rồi h1 bất kỳ</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Ngày đăng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article:published_time, pubdate, rồi thẻ time</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Tác giả</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author, article:author</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Ảnh</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img, picture trong vùng 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Đồ thị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Mọi liên kết trong cả trang, kèm câu chứa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cNvSpPr txBox="1"/>
          <p:nvPr/>
        </p:nvSpPr>
        <p:spPr>
          <a:xfrm>
            <a:off x="720000" y="3400000"/>
            <a:ext cx="7704000" cy="64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Đọc HTML thành cây thẻ bằng lxml rồi lấy từng trường bằng XPath. Regex chỉ dùng cho việc nhỏ như xem tên class hay tách câu.</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Ngăn chặn lan vô tận, trùng lặp</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Ngăn chặn lan vô tận, trùng lặp" descr="Ngăn chặn lan vô tận, trùng lặp"/>
          <p:cNvGraphicFramePr>
            <a:graphicFrameLocks noGrp="1"/>
          </p:cNvGraphicFramePr>
          <p:nvPr/>
        </p:nvGraphicFramePr>
        <p:xfrm>
          <a:off x="720000" y="1080000"/>
          <a:ext cx="7704000" cy="2910000"/>
        </p:xfrm>
        <a:graphic>
          <a:graphicData uri="http://schemas.openxmlformats.org/drawingml/2006/table">
            <a:tbl>
              <a:tblPr firstRow="1"/>
              <a:tblGrid>
                <a:gridCol w="1200000"/>
                <a:gridCol w="3500000"/>
                <a:gridCol w="3004000"/>
              </a:tblGrid>
              <a:tr h="270000">
                <a:tc>
                  <a:txBody>
                    <a:bodyPr/>
                    <a:lstStyle/>
                    <a:p>
                      <a:pPr marL="0" indent="0">
                        <a:buNone/>
                      </a:pPr>
                      <a:r>
                        <a:rPr lang="vi-VN" sz="1050" b="1">
                          <a:solidFill>
                            <a:schemeClr val="lt1"/>
                          </a:solidFill>
                          <a:latin typeface="Be Vietnam Pro"/>
                          <a:ea typeface="Be Vietnam Pro"/>
                          <a:cs typeface="Be Vietnam Pro"/>
                          <a:sym typeface="Be Vietnam Pro"/>
                        </a:rPr>
                        <a:t>Ngăn chặn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Cách làm</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Ví dụ</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270000">
                <a:tc rowSpan="5">
                  <a:txBody>
                    <a:bodyPr/>
                    <a:lstStyle/>
                    <a:p>
                      <a:pPr marL="0" indent="0">
                        <a:buNone/>
                      </a:pPr>
                      <a:r>
                        <a:rPr lang="vi-VN" sz="1050" b="1">
                          <a:solidFill>
                            <a:schemeClr val="dk1"/>
                          </a:solidFill>
                          <a:latin typeface="Be Vietnam Pro"/>
                          <a:ea typeface="Be Vietnam Pro"/>
                          <a:cs typeface="Be Vietnam Pro"/>
                          <a:sym typeface="Be Vietnam Pro"/>
                        </a:rPr>
                        <a:t>Lan vô tận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Chỉ đi trong 77 website đã chọn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baochinhphu.vn/bai.html</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tìm kiếm, bộ lọc, sắp xếp, lịch</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/tim?q=abc, /tin-tuc?sort=date</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đăng nhập, in, chia sẻ, RSS, API, ảnh, video</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/login, /feed, /anh.jpg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đường dẫn lặp 4 đoạn giống nhau</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/a/a/a/a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Trang trùng là ngõ cụt; trang không đổi không lan lại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?page=N luôn trả cùng một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rowSpan="3">
                  <a:txBody>
                    <a:bodyPr/>
                    <a:lstStyle/>
                    <a:p>
                      <a:pPr marL="0" indent="0">
                        <a:buNone/>
                      </a:pPr>
                      <a:r>
                        <a:rPr lang="vi-VN" sz="1050" b="1">
                          <a:solidFill>
                            <a:schemeClr val="dk1"/>
                          </a:solidFill>
                          <a:latin typeface="Be Vietnam Pro"/>
                          <a:ea typeface="Be Vietnam Pro"/>
                          <a:cs typeface="Be Vietnam Pro"/>
                          <a:sym typeface="Be Vietnam Pro"/>
                        </a:rPr>
                        <a:t>Trùng lặp</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Đưa URL về dạng chuẩn, bỏ URL đã biết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bai.html#binh-luan và bai.html?utm_source=fb là một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Băm SHA-256 văn bản; URL đầu tiên là trang gốc, URL sau chỉ lưu bản rút gọn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27.730 bản rút gọn trong 141.353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So dấu vân tay với lần tải trước; giống thì chỉ ghi thời điểm kiểm tra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Đổi ngày tháng, lượt xem không tính là đổi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Tree>
  </p:cSld>
  <p:clrMapOvr>
    <a:masterClrMapping/>
  </p:clrMapOvr>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2706</Words>
  <Application>WPS Docs</Application>
  <PresentationFormat/>
  <Paragraphs>149</Paragraphs>
  <Slides>23</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23</vt:i4>
      </vt:variant>
    </vt:vector>
  </HeadingPairs>
  <TitlesOfParts>
    <vt:vector size="39" baseType="lpstr">
      <vt:lpstr>Arial</vt:lpstr>
      <vt:lpstr>SimSun</vt:lpstr>
      <vt:lpstr>Wingdings</vt:lpstr>
      <vt:lpstr>Arial</vt:lpstr>
      <vt:lpstr>IBM Plex Mono</vt:lpstr>
      <vt:lpstr>Be Vietnam Pro</vt:lpstr>
      <vt:lpstr>Thonburi</vt:lpstr>
      <vt:lpstr>Roboto Condensed Light</vt:lpstr>
      <vt:lpstr>Open Sans</vt:lpstr>
      <vt:lpstr>Source Code Pro</vt:lpstr>
      <vt:lpstr>Microsoft YaHei</vt:lpstr>
      <vt:lpstr>汉仪旗黑</vt:lpstr>
      <vt:lpstr>宋体-简</vt:lpstr>
      <vt:lpstr>Arial Unicode MS</vt:lpstr>
      <vt:lpstr>Introduction to Coding Workshop by Slidesgo</vt:lpstr>
      <vt:lpstr>Slidesgo Final Pages</vt:lpstr>
      <vt:lpstr>Thu thập, bóc tách và tìm kiếm thông tin trên các website Đại học Bách khoa Hà Nội</vt:lpstr>
      <vt:lpstr>04</vt:lpstr>
      <vt:lpstr>Giới thiệu</vt:lpstr>
      <vt:lpstr>Đề bài yêu cầu bóc tách gì</vt:lpstr>
      <vt:lpstr>77 website</vt:lpstr>
      <vt:lpstr>Thu thập dữ liệu</vt:lpstr>
      <vt:lpstr>Công nghệ sử dụng</vt:lpstr>
      <vt:lpstr>Kiến trúc tổng thể</vt:lpstr>
      <vt:lpstr>Điều phối, tải và lập lịch</vt:lpstr>
      <vt:lpstr>Bóc tách trang web và tài liệu</vt:lpstr>
      <vt:lpstr>Tìm vùng nội dung chính</vt:lpstr>
      <vt:lpstr>Loại trùng và phát hiện thay đổi</vt:lpstr>
      <vt:lpstr>Lưu trữ vào MongoDB</vt:lpstr>
      <vt:lpstr>Lược đồ dữ liệu và xuất dữ liệu</vt:lpstr>
      <vt:lpstr>Tìm kiếm Lucene</vt:lpstr>
      <vt:lpstr>Kiến trúc tìm kiếm</vt:lpstr>
      <vt:lpstr>Tiền xử lý văn bản tiếng Việt</vt:lpstr>
      <vt:lpstr>Lập chỉ mục</vt:lpstr>
      <vt:lpstr>Tìm kiếm và xếp hạng</vt:lpstr>
      <vt:lpstr>Kết quả</vt:lpstr>
      <vt:lpstr>8,25 triệu</vt:lpstr>
      <vt:lpstr>Kết quả tìm kiếm</vt:lpstr>
      <vt:lpstr>Cảm ơn!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Thu thập, bóc tách và tìm kiếm thông tin trên các website Đại học Bách khoa Hà Nội</dc:title>
  <dc:creator/>
  <cp:lastModifiedBy>Bảo Trần</cp:lastModifiedBy>
  <cp:revision>5</cp:revision>
  <dcterms:created xsi:type="dcterms:W3CDTF">2026-10-29T14:41:06Z</dcterms:created>
  <dcterms:modified xsi:type="dcterms:W3CDTF">2026-10-29T14:41:06Z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5B09F73A8B6910984A5AE36A98B1DA27_42</vt:lpwstr>
  </property>
  <property fmtid="{D5CDD505-2E9C-101B-9397-08002B2CF9AE}" pid="3" name="KSOProductBuildVer">
    <vt:lpwstr>1033-12.1.28496.28496</vt:lpwstr>
  </property>
</Properties>
</file>